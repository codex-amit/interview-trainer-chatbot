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4" r:id="rId9"/>
    <p:sldId id="278" r:id="rId10"/>
    <p:sldId id="286" r:id="rId11"/>
    <p:sldId id="277" r:id="rId12"/>
    <p:sldId id="280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ex-Amit/interview-trainer-chatbo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LangFlow”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41648679"/>
              </p:ext>
            </p:extLst>
          </p:nvPr>
        </p:nvGraphicFramePr>
        <p:xfrm>
          <a:off x="1299257" y="2600315"/>
          <a:ext cx="9703040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32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Quicksand SemiBold" pitchFamily="2" charset="0"/>
                        </a:rPr>
                        <a:t>Amit Kumar Swain</a:t>
                      </a:r>
                      <a:endParaRPr b="1" dirty="0">
                        <a:latin typeface="Quicksand SemiBold" pitchFamily="2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dirty="0">
                          <a:latin typeface="Quicksand SemiBold" pitchFamily="2" charset="0"/>
                        </a:rPr>
                        <a:t>amitkumarswain2005@gmail.com</a:t>
                      </a:r>
                      <a:endParaRPr sz="1350" b="1" dirty="0">
                        <a:latin typeface="Quicksand SemiBold" pitchFamily="2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Quicksand SemiBold" pitchFamily="2" charset="0"/>
                        </a:rPr>
                        <a:t>9178996612</a:t>
                      </a:r>
                      <a:endParaRPr dirty="0">
                        <a:latin typeface="Quicksand SemiBold" pitchFamily="2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Artificial intelligence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Project Title – </a:t>
            </a:r>
            <a:r>
              <a:rPr lang="en-IN" sz="2400" b="1" dirty="0">
                <a:latin typeface="+mj-lt"/>
              </a:rPr>
              <a:t>Interview Trainer Agent</a:t>
            </a:r>
            <a:endParaRPr lang="en-IN" sz="2400" b="1" dirty="0">
              <a:highlight>
                <a:srgbClr val="FFFF00"/>
              </a:highlight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E0ECDB-30CD-6FD9-67A7-DFE120A6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780" y="3683879"/>
            <a:ext cx="763007" cy="951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Interview Trainer Agent</a:t>
            </a:r>
            <a:endParaRPr lang="en-US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  <a:r>
              <a:rPr lang="en-US" b="1" dirty="0"/>
              <a:t>:</a:t>
            </a:r>
          </a:p>
          <a:p>
            <a:pPr fontAlgn="base"/>
            <a:r>
              <a:rPr lang="en-IN" dirty="0"/>
              <a:t>Preparing for job interviews is a critical yet overwhelming process, as candidates often struggle with </a:t>
            </a:r>
            <a:r>
              <a:rPr lang="en-IN" b="1" dirty="0"/>
              <a:t>question preparation, response structuring, and assessing skill gaps</a:t>
            </a:r>
            <a:r>
              <a:rPr lang="en-IN" dirty="0"/>
              <a:t>. Role-specific interview questions, industry expectations, and behavioural scenarios are scattered across unreliable sources. Without </a:t>
            </a:r>
            <a:r>
              <a:rPr lang="en-IN" b="1" dirty="0"/>
              <a:t>personalized, real-time guidance</a:t>
            </a:r>
            <a:r>
              <a:rPr lang="en-IN" dirty="0"/>
              <a:t>, many candidates fail to present their best selves or make confident, informed responses during competitive hiring processes</a:t>
            </a:r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pPr fontAlgn="base"/>
            <a:r>
              <a:rPr lang="en-IN" b="1" dirty="0"/>
              <a:t>The Objective</a:t>
            </a:r>
            <a:r>
              <a:rPr lang="en-IN" dirty="0"/>
              <a:t> : </a:t>
            </a:r>
          </a:p>
          <a:p>
            <a:pPr fontAlgn="base"/>
            <a:r>
              <a:rPr lang="en-IN" dirty="0"/>
              <a:t>Build an </a:t>
            </a:r>
            <a:r>
              <a:rPr lang="en-IN" b="1" dirty="0"/>
              <a:t>AI-powered Interview Trainer Agent</a:t>
            </a:r>
            <a:r>
              <a:rPr lang="en-IN" dirty="0"/>
              <a:t> that delivers </a:t>
            </a:r>
            <a:r>
              <a:rPr lang="en-IN" b="1" dirty="0"/>
              <a:t>personalized interview preparation and performance coaching</a:t>
            </a:r>
            <a:r>
              <a:rPr lang="en-IN" dirty="0"/>
              <a:t> for freshers, experienced professionals, and career switchers. The solution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Personalized Interview Plans</a:t>
            </a:r>
            <a:r>
              <a:rPr lang="en-IN" dirty="0"/>
              <a:t> – Recommend question sets based on experience level, job role, technical domain, behavioural traits, and target company culture.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Interview Data RAG Retrieval</a:t>
            </a:r>
            <a:r>
              <a:rPr lang="en-IN" dirty="0"/>
              <a:t> – Fetch and summarize role-specific questions, model answers, and evaluation rubrics from recruitment portals, professional networks, and company interview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Response Tracking &amp; Feedback</a:t>
            </a:r>
            <a:r>
              <a:rPr lang="en-IN" dirty="0"/>
              <a:t> – Allow users to input answers via text or voice, and provide instant assessment on clarity, completeness, and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Preventive Skill Focus</a:t>
            </a:r>
            <a:r>
              <a:rPr lang="en-IN" dirty="0"/>
              <a:t> – Suggest targeted preparation strategies for skill gaps (e.g., communication-weak or technically-deficient profiles).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A68ACA-9822-5E68-1B3B-9A2BDB032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" y="1851332"/>
            <a:ext cx="1020503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600" dirty="0"/>
              <a:t>I used </a:t>
            </a:r>
            <a:r>
              <a:rPr lang="en-IN" sz="1600" dirty="0">
                <a:highlight>
                  <a:srgbClr val="FFFF00"/>
                </a:highlight>
              </a:rPr>
              <a:t>LangFlow + IBM watsonx.ai + Granite Models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solidFill>
                <a:schemeClr val="tx1"/>
              </a:solidFill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LangFlow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– Used to visually design and manage the AI workflow, making it easier to connect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different components such as prompts, models, and APIs without writing complex code.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IBM watsonx.ai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– Used as the AI platform to access powerful foundation models,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perform natural language processing, and generate intelligent responses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Granite 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– Used as the underlying Large Language Models (LLMs) for understanding user queries,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generating interview questions, evaluating answers, and providing personalized feedback. </a:t>
            </a:r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703637"/>
            <a:ext cx="106070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Proposed Solution: AI-Powered Interview Trainer Agent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proposed solution is a </a:t>
            </a:r>
            <a:r>
              <a:rPr lang="en-IN" b="1" dirty="0"/>
              <a:t>multi-agent AI-powered Interview Trainer Agent</a:t>
            </a:r>
            <a:r>
              <a:rPr lang="en-IN" dirty="0"/>
              <a:t> built using </a:t>
            </a:r>
            <a:r>
              <a:rPr lang="en-IN" b="1" dirty="0"/>
              <a:t>LangFlow, IBM watsonx.ai, and Granite Models</a:t>
            </a:r>
            <a:r>
              <a:rPr lang="en-IN" dirty="0"/>
              <a:t> to provide personalized, real-time interview guidance. The system addresses challenges in interview preparation, response structuring, and assessing skill gaps through an intelligent, modular architecture.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At its core, the solution uses a </a:t>
            </a:r>
            <a:r>
              <a:rPr lang="en-IN" b="1" dirty="0"/>
              <a:t>Retrieval-Augmented Generation (RAG)</a:t>
            </a:r>
            <a:r>
              <a:rPr lang="en-IN" dirty="0"/>
              <a:t> pipeline to fetch accurate interview data from trusted sources such as recruitment portals, professional networks, and company interview databases. This data is embedded and stored in a vector database, enabling the system to retrieve and summarize role-specific questions, model answers, and evaluation rubrics using Granite models.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system consists of four key agents:</a:t>
            </a:r>
            <a:endParaRPr lang="en-IN" b="1" dirty="0"/>
          </a:p>
          <a:p>
            <a:r>
              <a:rPr lang="en-IN" b="1" dirty="0"/>
              <a:t>	Interview Data Retrieval Agent</a:t>
            </a:r>
            <a:r>
              <a:rPr lang="en-IN" dirty="0"/>
              <a:t> fetches and summarizes role-specific questions and evaluation rubrics using RAG.</a:t>
            </a:r>
          </a:p>
          <a:p>
            <a:r>
              <a:rPr lang="en-IN" b="1" dirty="0"/>
              <a:t>	Personalized Interview Planner Agent</a:t>
            </a:r>
            <a:r>
              <a:rPr lang="en-IN" dirty="0"/>
              <a:t> generates customized question sets and preparation plans based on experience</a:t>
            </a:r>
          </a:p>
          <a:p>
            <a:r>
              <a:rPr lang="en-IN" dirty="0"/>
              <a:t>		level, job role, technical domain, and target company culture.</a:t>
            </a:r>
          </a:p>
          <a:p>
            <a:r>
              <a:rPr lang="en-IN" b="1" dirty="0"/>
              <a:t>	Response Tracking &amp; Feedback Agent</a:t>
            </a:r>
            <a:r>
              <a:rPr lang="en-IN" dirty="0"/>
              <a:t> allows users to input answers via text or voice and delivers instant assessment 		on clarity, completeness, and confidence.</a:t>
            </a:r>
          </a:p>
          <a:p>
            <a:r>
              <a:rPr lang="en-IN" b="1" dirty="0"/>
              <a:t>	Preventive Skill Focus Agent</a:t>
            </a:r>
            <a:r>
              <a:rPr lang="en-IN" dirty="0"/>
              <a:t> provides strategic preparation advice and targeted learning tracks for identified skill gaps 		(e.g., communication-weak or technically-deficient profiles).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(built with Streamlit or React) that visualizes daily and weekly nutrient intake, highlights deficiencies, and tracks progress toward health goals.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LangFlow is used to orchestrate agent workflows, while watsonx.ai ensures scalable model deployment, embeddings, and AI governance. Granite models power reasoning, summarization, and personalization.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Overall, this solution delivers an </a:t>
            </a:r>
            <a:r>
              <a:rPr lang="en-IN" b="1" dirty="0"/>
              <a:t>end-to-end intelligent interview coach</a:t>
            </a:r>
            <a:r>
              <a:rPr lang="en-IN" dirty="0"/>
              <a:t> that promotes career readiness through personalized insights, real-time feedback, and targeted skill recommendations.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4197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11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FC5681-80C8-068A-DF42-6CDE75A54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2" y="1170417"/>
            <a:ext cx="10780460" cy="515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Chat Input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rgbClr val="1F1F1F"/>
                </a:solidFill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What it is: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The entry point of your workspace. It captures user interaction in real time, typically from a frontend chat interface 		or a user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Role in this flow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It takes the candidate’s typed or recorded text response and directly streams it into the main Large 		Language Model (LLM) component for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2. IBM watsonx.ai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1F1F1F"/>
                </a:solidFill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What it is: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The core processing and inference node. This is a custom or integrated LangFlow component designed to 		communicate directly with IBM’s cloud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Key Configurations visible:</a:t>
            </a:r>
          </a:p>
          <a:p>
            <a:pPr marL="457200" lvl="4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System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Message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Stores the base context/rules governing how the AI should behave (e.g., instructing the agent 			to act strictly as an interview coach).</a:t>
            </a:r>
          </a:p>
          <a:p>
            <a:pPr marL="457200" lvl="4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1F1F1F"/>
                </a:solidFill>
                <a:latin typeface="+mj-lt"/>
              </a:rPr>
              <a:t>	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Model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Name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It is specifically configured to run ibm/granite-8b-code-instruct, optimized for following instructions 			and structural reasoning tasks.</a:t>
            </a:r>
          </a:p>
          <a:p>
            <a:pPr marL="457200" lvl="4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rgbClr val="1F1F1F"/>
                </a:solidFill>
                <a:latin typeface="+mj-lt"/>
              </a:rPr>
              <a:t>	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Credentials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It handles the API Endpoint, Project ID, and API Key required to authenticate and securely process 			the text using IBM's cloud foundation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Role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in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this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flow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It takes the text from the Chat Input, parses it through the lens of the System Message instructions, uses 		the Granite Model to think through a response, and outputs the resulting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3. Chat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What it is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The final node or endpoint of the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	</a:t>
            </a:r>
            <a:r>
              <a:rPr kumimoji="0" lang="en-US" altLang="en-US" b="1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Role in this flow</a:t>
            </a:r>
            <a:r>
              <a:rPr kumimoji="0" lang="en-US" altLang="en-US" u="none" strike="noStrike" cap="none" normalizeH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: It intercepts the generated Model Response string coming out of the watsonx.ai component and routes it 		back to the frontend user interface, instantly displaying the interview coach's critique, score, or follow-up question 		to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97669-0AF1-2881-DD5C-FFA28A2C6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648" y="1130800"/>
            <a:ext cx="9550703" cy="540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Role of Agentic AI in Interview Trainer Agent</a:t>
            </a:r>
          </a:p>
          <a:p>
            <a:endParaRPr lang="en-US" b="1" dirty="0"/>
          </a:p>
          <a:p>
            <a:r>
              <a:rPr lang="en-IN" b="1" dirty="0"/>
              <a:t>Agentic AI</a:t>
            </a:r>
            <a:r>
              <a:rPr lang="en-IN" dirty="0"/>
              <a:t> enables the Interview Trainer Agent to function as an intelligent, autonomous system rather than a simple chatbot.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, it coordinates multiple specialized agents to deliver personalized interview guidance.</a:t>
            </a:r>
          </a:p>
          <a:p>
            <a:endParaRPr lang="en-IN" dirty="0"/>
          </a:p>
          <a:p>
            <a:r>
              <a:rPr lang="en-IN" dirty="0"/>
              <a:t>Each agent performs a specific role—such as retrieving role-specific interview data, generating customized preparation plans, tracking user responses, and analysing communication or technical skill gaps—while working collaboratively. This </a:t>
            </a:r>
            <a:r>
              <a:rPr lang="en-IN" b="1" dirty="0"/>
              <a:t>multi-agent approach</a:t>
            </a:r>
            <a:r>
              <a:rPr lang="en-IN" dirty="0"/>
              <a:t> ensures efficient task execution and accurate results.</a:t>
            </a:r>
          </a:p>
          <a:p>
            <a:endParaRPr lang="en-IN" dirty="0"/>
          </a:p>
          <a:p>
            <a:r>
              <a:rPr lang="en-IN" dirty="0"/>
              <a:t>Agentic AI also brings </a:t>
            </a:r>
            <a:r>
              <a:rPr lang="en-IN" b="1" dirty="0"/>
              <a:t>context awareness</a:t>
            </a:r>
            <a:r>
              <a:rPr lang="en-IN" dirty="0"/>
              <a:t>, understanding user details like experience level, job role, technical domain, and target company culture to generate tailored recommendations. It supports </a:t>
            </a:r>
            <a:r>
              <a:rPr lang="en-IN" b="1" dirty="0"/>
              <a:t>real-time adaptation</a:t>
            </a:r>
            <a:r>
              <a:rPr lang="en-IN" dirty="0"/>
              <a:t>, continuously updating suggestions based on user inputs like verbal or text-based mock answers. Additionally, agents communicate with each other, enabling better decision-making and improved outcomes.</a:t>
            </a:r>
          </a:p>
          <a:p>
            <a:endParaRPr lang="en-IN" dirty="0"/>
          </a:p>
          <a:p>
            <a:r>
              <a:rPr lang="en-IN" dirty="0"/>
              <a:t>Overall, Agentic AI makes the system proactive, personalized, and goal-driven, acting like a </a:t>
            </a:r>
            <a:r>
              <a:rPr lang="en-IN" b="1" dirty="0"/>
              <a:t>smart digital interview coach</a:t>
            </a:r>
            <a:r>
              <a:rPr lang="en-IN" dirty="0"/>
              <a:t> that helps users excel in competitive hiring processes.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233225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812877"/>
            <a:ext cx="105156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/>
              <a:t>Frontend</a:t>
            </a:r>
            <a:endParaRPr lang="en-IN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Next.js 16</a:t>
            </a:r>
            <a:r>
              <a:rPr lang="en-IN" sz="1800" dirty="0"/>
              <a:t> – React framework for building the frontend with server-side rendering.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TypeScript</a:t>
            </a:r>
            <a:r>
              <a:rPr lang="en-IN" sz="1800" dirty="0"/>
              <a:t> – Strongly typed JavaScript for safer and scalable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Tailwind CSS</a:t>
            </a:r>
            <a:r>
              <a:rPr lang="en-IN" sz="1800" dirty="0"/>
              <a:t> – Utility-first CSS framework for styling the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React</a:t>
            </a:r>
            <a:r>
              <a:rPr lang="en-IN" sz="1800" dirty="0"/>
              <a:t> – Component-based library for building the interactive chat interface.</a:t>
            </a:r>
            <a:endParaRPr lang="en-US" sz="1800" dirty="0"/>
          </a:p>
          <a:p>
            <a:r>
              <a:rPr lang="en-IN" sz="1800" b="1" u="sng" dirty="0"/>
              <a:t>AI </a:t>
            </a:r>
            <a:endParaRPr lang="en-IN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LangFlow</a:t>
            </a:r>
            <a:r>
              <a:rPr lang="en-IN" sz="1800" dirty="0"/>
              <a:t> – Visual tool for orchestrating the AI interview trainer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Watsonx.ai</a:t>
            </a:r>
            <a:r>
              <a:rPr lang="en-IN" sz="1800" dirty="0"/>
              <a:t> – Platform for model deployment, embeddings, and AI governance.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 (granite-4.0-8B-Instruct)</a:t>
            </a:r>
            <a:r>
              <a:rPr lang="en-IN" sz="1800" dirty="0"/>
              <a:t> – LLM powering question generation and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RAG</a:t>
            </a:r>
            <a:r>
              <a:rPr lang="en-IN" sz="1800" dirty="0"/>
              <a:t> – Retrieves role-specific interview content before generating answers.</a:t>
            </a:r>
          </a:p>
          <a:p>
            <a:r>
              <a:rPr lang="en-IN" sz="1800" b="1" u="sng" dirty="0"/>
              <a:t>API</a:t>
            </a:r>
            <a:endParaRPr lang="en-IN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Next.js API Routes</a:t>
            </a:r>
            <a:r>
              <a:rPr lang="en-IN" sz="1800" dirty="0"/>
              <a:t> – Server-side route handling the LangFlow API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Environment Config (.env.local)</a:t>
            </a:r>
            <a:r>
              <a:rPr lang="en-IN" sz="1800" dirty="0"/>
              <a:t> – Securely manages API keys and endpoint configuration.</a:t>
            </a:r>
          </a:p>
          <a:p>
            <a:r>
              <a:rPr lang="en-IN" sz="1800" b="1" u="sng" dirty="0"/>
              <a:t>UI Components</a:t>
            </a:r>
            <a:endParaRPr lang="en-IN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shadcn/ui</a:t>
            </a:r>
            <a:r>
              <a:rPr lang="en-IN" sz="1800" dirty="0"/>
              <a:t> – Pre-built accessible component library used for UI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b="1" dirty="0"/>
              <a:t>Custom Components</a:t>
            </a:r>
            <a:r>
              <a:rPr lang="en-IN" sz="1750" dirty="0"/>
              <a:t> – chat-interface.tsx, chat-message.tsx, profile-form.tsx for core chat features.</a:t>
            </a:r>
          </a:p>
          <a:p>
            <a:r>
              <a:rPr lang="en-IN" sz="1800" b="1" u="sng" dirty="0"/>
              <a:t>Dev Tools</a:t>
            </a:r>
            <a:endParaRPr lang="en-IN" sz="1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Node.js 18+</a:t>
            </a:r>
            <a:r>
              <a:rPr lang="en-IN" sz="1800" dirty="0"/>
              <a:t> – JavaScript runtime environment for running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npm</a:t>
            </a:r>
            <a:r>
              <a:rPr lang="en-IN" sz="1800" dirty="0"/>
              <a:t> – Package manager for installing and managing dependencies..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Turbopack</a:t>
            </a:r>
            <a:r>
              <a:rPr lang="en-IN" sz="1800" dirty="0"/>
              <a:t> – Fast Next.js bundler used during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21601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21601" y="1079611"/>
            <a:ext cx="1130198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proposed Interview Trainer Agent stands out by combining </a:t>
            </a:r>
            <a:r>
              <a:rPr lang="en-IN" sz="1600" b="1" dirty="0"/>
              <a:t>Agentic AI, RAG, and personalization</a:t>
            </a:r>
            <a:r>
              <a:rPr lang="en-IN" sz="1600" dirty="0"/>
              <a:t> into a single intelligent system.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Profile-Driven Personalization</a:t>
            </a:r>
            <a:r>
              <a:rPr lang="en-IN" sz="1600" dirty="0"/>
              <a:t> – Tailors every question set based on the user's name, experience level, and target job role, making prep highly relevant and specific.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RAG-Powered Accuracy</a:t>
            </a:r>
            <a:r>
              <a:rPr lang="en-IN" sz="1600" dirty="0"/>
              <a:t> – Uses Retrieval-Augmented Generation to fetch real, role-specific interview content before generating answers, reducing generic or irrelevant responses.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Technical + Behavioural Coverage</a:t>
            </a:r>
            <a:r>
              <a:rPr lang="en-IN" sz="1600" dirty="0"/>
              <a:t> – Goes beyond just technical questions by also covering soft skills and behavioural scenarios for a complete interview prep experience.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Real-Time Conversational Interface</a:t>
            </a:r>
            <a:r>
              <a:rPr lang="en-IN" sz="1600" dirty="0"/>
              <a:t> – Delivers interview preparation through a live chat UI, making it feel like an actual interview rather than a static Q&amp;A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Granite Integration</a:t>
            </a:r>
            <a:r>
              <a:rPr lang="en-IN" sz="1600" dirty="0"/>
              <a:t> – Leverages IBM's enterprise-grade Granite model for intelligent, context-aware question generation and personalized feedback.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Langflow Workflow Orchestration</a:t>
            </a:r>
            <a:r>
              <a:rPr lang="en-IN" sz="1600" dirty="0"/>
              <a:t> – Uses a visual AI pipeline via Langflow, making the backend modular, maintainable, and easy to extend with new question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Model Answers &amp; Improvement Tips</a:t>
            </a:r>
            <a:r>
              <a:rPr lang="en-IN" sz="1600" dirty="0"/>
              <a:t> – Not just asks questions, but also provides sample answers and actionable tips to actively improve user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 &amp; Enterprise-Ready</a:t>
            </a:r>
            <a:r>
              <a:rPr lang="en-IN" sz="1600" dirty="0"/>
              <a:t> – Built on IBM Watsonx.ai with secure API routes and environment-based config, ensuring reliability and production readiness. </a:t>
            </a:r>
          </a:p>
          <a:p>
            <a:endParaRPr lang="en-IN" sz="1600" dirty="0"/>
          </a:p>
          <a:p>
            <a:r>
              <a:rPr lang="en-IN" sz="1600" dirty="0"/>
              <a:t>This makes the solution a </a:t>
            </a:r>
            <a:r>
              <a:rPr lang="en-IN" sz="1600" b="1" dirty="0"/>
              <a:t>smart, adaptive, and proactive digital interview coach</a:t>
            </a:r>
            <a:r>
              <a:rPr lang="en-IN" sz="1600" dirty="0"/>
              <a:t>, not just a static question bank.</a:t>
            </a:r>
            <a:endParaRPr lang="en-US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GitHub repository (Enable Add README  button while creating repository) with format – </a:t>
            </a:r>
          </a:p>
          <a:p>
            <a:pPr lvl="1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Interview-Trainer-Agent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GitHub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app.json file , 2) yourproblemstatement.pdf file  3) your projectpresntation.pptx file 4)any other files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16509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869107"/>
            <a:ext cx="9214580" cy="521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Voice Interview Simulation –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enhanced with a voice-enabled interface allowing users to practice speaking answers aloud, simulating a real interview environment. AI can evaluate tone, confidence, and clarity, providing detailed feedback to improve verbal communication skills. This will transform the chatbot from a text-based tool into a fully immersive mock interview experience.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&amp; Job Description Parsing –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extended to automatically parse the user's resume and target job description, extracting key skills and experience gaps. This will enable the Interview Trainer to generate hyper-personalized questions directly aligned with the candidate's profile and the specific role they are applying for. This feature will significantly reduce manual input and deliver a smarter, more targeted preparation experience.</a:t>
            </a: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1874</Words>
  <Application>Microsoft Office PowerPoint</Application>
  <PresentationFormat>Widescreen</PresentationFormat>
  <Paragraphs>127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Quicksand SemiBold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AMIT SWAIN</cp:lastModifiedBy>
  <cp:revision>25</cp:revision>
  <dcterms:created xsi:type="dcterms:W3CDTF">2025-07-08T05:06:56Z</dcterms:created>
  <dcterms:modified xsi:type="dcterms:W3CDTF">2026-06-04T18:50:08Z</dcterms:modified>
</cp:coreProperties>
</file>