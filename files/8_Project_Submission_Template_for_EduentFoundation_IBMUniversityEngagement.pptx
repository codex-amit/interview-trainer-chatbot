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6"/>
  </p:notesMasterIdLst>
  <p:sldIdLst>
    <p:sldId id="283" r:id="rId2"/>
    <p:sldId id="257" r:id="rId3"/>
    <p:sldId id="282" r:id="rId4"/>
    <p:sldId id="284" r:id="rId5"/>
    <p:sldId id="285" r:id="rId6"/>
    <p:sldId id="281" r:id="rId7"/>
    <p:sldId id="279" r:id="rId8"/>
    <p:sldId id="264" r:id="rId9"/>
    <p:sldId id="278" r:id="rId10"/>
    <p:sldId id="287" r:id="rId11"/>
    <p:sldId id="286" r:id="rId12"/>
    <p:sldId id="277" r:id="rId13"/>
    <p:sldId id="280" r:id="rId14"/>
    <p:sldId id="276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86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0A8E369-C804-D8D2-383B-03E8A5478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168FC73D-F867-8E13-0025-1B40818921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449581B4-9B47-7782-B749-078618A6E5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051513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FB18EFA4-CD13-16C4-504B-6DB7E86CE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E8E16183-6BFA-E60A-1235-F3BFB1B1F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C4420B06-3455-3F20-5E28-90535F24DA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51753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 dirty="0"/>
          </a:p>
        </p:txBody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odex-Amit/interview-trainer-chatbot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 dirty="0"/>
              <a:t>IBM University Engagement Project Submission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 dirty="0"/>
              <a:t>“Exploring the Power of Agentic AI with IBM Granite and LangFlow”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 dirty="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2641648679"/>
              </p:ext>
            </p:extLst>
          </p:nvPr>
        </p:nvGraphicFramePr>
        <p:xfrm>
          <a:off x="1299257" y="2600315"/>
          <a:ext cx="9703040" cy="2167128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1325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3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990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788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3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Student Name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Recent Passport Photo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389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dirty="0">
                          <a:latin typeface="Quicksand SemiBold" pitchFamily="2" charset="0"/>
                        </a:rPr>
                        <a:t>Amit Kumar Swain</a:t>
                      </a:r>
                      <a:endParaRPr b="1" dirty="0">
                        <a:latin typeface="Quicksand SemiBold" pitchFamily="2" charset="0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dirty="0">
                          <a:latin typeface="Quicksand SemiBold" pitchFamily="2" charset="0"/>
                        </a:rPr>
                        <a:t>amitkumarswain2005@gmail.com</a:t>
                      </a:r>
                      <a:endParaRPr sz="1350" b="1" dirty="0">
                        <a:latin typeface="Quicksand SemiBold" pitchFamily="2" charset="0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>
                          <a:latin typeface="Quicksand SemiBold" pitchFamily="2" charset="0"/>
                        </a:rPr>
                        <a:t>9178996612</a:t>
                      </a:r>
                      <a:endParaRPr dirty="0">
                        <a:latin typeface="Quicksand SemiBold" pitchFamily="2" charset="0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Domain of  Project – Artificial intelligence</a:t>
            </a:r>
            <a:endParaRPr lang="en-IN" sz="2400" b="1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+mj-lt"/>
              </a:rPr>
              <a:t>Project Title – </a:t>
            </a:r>
            <a:r>
              <a:rPr lang="en-IN" sz="2400" b="1" dirty="0">
                <a:latin typeface="+mj-lt"/>
              </a:rPr>
              <a:t>Interview Trainer Agent</a:t>
            </a:r>
            <a:endParaRPr lang="en-IN" sz="2400" b="1" dirty="0">
              <a:highlight>
                <a:srgbClr val="FFFF00"/>
              </a:highlight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E0ECDB-30CD-6FD9-67A7-DFE120A64F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1780" y="3683879"/>
            <a:ext cx="763007" cy="95170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576072" y="1234440"/>
            <a:ext cx="10607040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b="1" dirty="0"/>
              <a:t>Problem Statement : </a:t>
            </a:r>
            <a:r>
              <a:rPr lang="en-IN" dirty="0"/>
              <a:t>Interview Trainer Agent</a:t>
            </a:r>
            <a:endParaRPr lang="en-US" dirty="0"/>
          </a:p>
          <a:p>
            <a:pPr fontAlgn="base"/>
            <a:endParaRPr lang="en-US" b="1" dirty="0"/>
          </a:p>
          <a:p>
            <a:pPr fontAlgn="base"/>
            <a:r>
              <a:rPr lang="en-US" b="1" dirty="0"/>
              <a:t>The Challenge</a:t>
            </a:r>
            <a:r>
              <a:rPr lang="en-US" dirty="0"/>
              <a:t> </a:t>
            </a:r>
            <a:r>
              <a:rPr lang="en-US" b="1" dirty="0"/>
              <a:t>:</a:t>
            </a:r>
          </a:p>
          <a:p>
            <a:pPr fontAlgn="base"/>
            <a:r>
              <a:rPr lang="en-IN" dirty="0"/>
              <a:t>Preparing for job interviews is a critical yet overwhelming process, as candidates often struggle with </a:t>
            </a:r>
            <a:r>
              <a:rPr lang="en-IN" b="1" dirty="0"/>
              <a:t>question preparation, response structuring, and assessing skill gaps</a:t>
            </a:r>
            <a:r>
              <a:rPr lang="en-IN" dirty="0"/>
              <a:t>. Role-specific interview questions, industry expectations, and behavioural scenarios are scattered across unreliable sources. Without </a:t>
            </a:r>
            <a:r>
              <a:rPr lang="en-IN" b="1" dirty="0"/>
              <a:t>personalized, real-time guidance</a:t>
            </a:r>
            <a:r>
              <a:rPr lang="en-IN" dirty="0"/>
              <a:t>, many candidates fail to present their best selves or make confident, informed responses during competitive hiring processes</a:t>
            </a:r>
            <a:r>
              <a:rPr lang="en-US" dirty="0"/>
              <a:t>. </a:t>
            </a:r>
          </a:p>
          <a:p>
            <a:pPr fontAlgn="base"/>
            <a:endParaRPr lang="en-US" dirty="0"/>
          </a:p>
          <a:p>
            <a:pPr fontAlgn="base"/>
            <a:r>
              <a:rPr lang="en-IN" b="1" dirty="0"/>
              <a:t>The Objective</a:t>
            </a:r>
            <a:r>
              <a:rPr lang="en-IN" dirty="0"/>
              <a:t> : </a:t>
            </a:r>
          </a:p>
          <a:p>
            <a:pPr fontAlgn="base"/>
            <a:r>
              <a:rPr lang="en-IN" dirty="0"/>
              <a:t>Build an </a:t>
            </a:r>
            <a:r>
              <a:rPr lang="en-IN" b="1" dirty="0"/>
              <a:t>AI-powered Interview Trainer Agent</a:t>
            </a:r>
            <a:r>
              <a:rPr lang="en-IN" dirty="0"/>
              <a:t> that delivers </a:t>
            </a:r>
            <a:r>
              <a:rPr lang="en-IN" b="1" dirty="0"/>
              <a:t>personalized interview preparation and performance coaching</a:t>
            </a:r>
            <a:r>
              <a:rPr lang="en-IN" dirty="0"/>
              <a:t> for freshers, experienced professionals, and career switchers. The solution should: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Personalized Interview Plans</a:t>
            </a:r>
            <a:r>
              <a:rPr lang="en-IN" dirty="0"/>
              <a:t> – Recommend question sets based on experience level, job role, technical domain, behavioural traits, and target company culture.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Interview Data RAG Retrieval</a:t>
            </a:r>
            <a:r>
              <a:rPr lang="en-IN" dirty="0"/>
              <a:t> – Fetch and summarize role-specific questions, model answers, and evaluation rubrics from recruitment portals, professional networks, and company interview databases.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Response Tracking &amp; Feedback</a:t>
            </a:r>
            <a:r>
              <a:rPr lang="en-IN" dirty="0"/>
              <a:t> – Allow users to input answers via text or voice, and provide instant assessment on clarity, completeness, and confidence.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Preventive Skill Focus</a:t>
            </a:r>
            <a:r>
              <a:rPr lang="en-IN" dirty="0"/>
              <a:t> – Suggest targeted preparation strategies for skill gaps (e.g., communication-weak or technically-deficient profiles).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Problem Statement 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A77E81F-021A-57FB-C709-7E7075649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BD926A1-0833-2949-651F-2AAB4D91A8C9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 </a:t>
            </a:r>
            <a:endParaRPr lang="en-IN" sz="2400" b="1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AA68ACA-9822-5E68-1B3B-9A2BDB0326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480" y="1851332"/>
            <a:ext cx="10205038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IN" sz="1600" dirty="0"/>
              <a:t>I used </a:t>
            </a:r>
            <a:r>
              <a:rPr lang="en-IN" sz="1600" dirty="0">
                <a:highlight>
                  <a:srgbClr val="FFFF00"/>
                </a:highlight>
              </a:rPr>
              <a:t>LangFlow + IBM watsonx.ai + Granite Models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+mn-lt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LangFlow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– Used to visually design and manage the AI workflow, making it easier to connect </a:t>
            </a:r>
          </a:p>
          <a:p>
            <a:pPr marR="0" lvl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600" dirty="0">
                <a:solidFill>
                  <a:schemeClr val="tx1"/>
                </a:solidFill>
                <a:latin typeface="+mn-lt"/>
              </a:rPr>
              <a:t>	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different components such as prompts, models, and APIs without writing complex code. </a:t>
            </a:r>
          </a:p>
          <a:p>
            <a:pPr marR="0" lvl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IBM watsonx.ai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– Used as the AI platform to access powerful foundation models,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600" dirty="0">
                <a:solidFill>
                  <a:schemeClr val="tx1"/>
                </a:solidFill>
                <a:latin typeface="+mn-lt"/>
              </a:rPr>
              <a:t>	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perform natural language processing, and generate intelligent responses efficiently.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Granite Models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– Used as the underlying Large Language Models (LLMs) for understanding user queries,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600" dirty="0">
                <a:solidFill>
                  <a:schemeClr val="tx1"/>
                </a:solidFill>
                <a:latin typeface="+mn-lt"/>
              </a:rPr>
              <a:t>	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generating interview questions, evaluating answers, and providing personalized feedback. </a:t>
            </a:r>
          </a:p>
        </p:txBody>
      </p:sp>
    </p:spTree>
    <p:extLst>
      <p:ext uri="{BB962C8B-B14F-4D97-AF65-F5344CB8AC3E}">
        <p14:creationId xmlns:p14="http://schemas.microsoft.com/office/powerpoint/2010/main" val="4218467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76072" y="703637"/>
            <a:ext cx="10607040" cy="547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Proposed Solution: AI-Powered Interview Trainer Agent</a:t>
            </a:r>
          </a:p>
          <a:p>
            <a:endParaRPr lang="en-US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/>
              <a:t>The proposed solution is a </a:t>
            </a:r>
            <a:r>
              <a:rPr lang="en-IN" b="1" dirty="0"/>
              <a:t>multi-agent AI-powered Interview Trainer Agent</a:t>
            </a:r>
            <a:r>
              <a:rPr lang="en-IN" dirty="0"/>
              <a:t> built using </a:t>
            </a:r>
            <a:r>
              <a:rPr lang="en-IN" b="1" dirty="0"/>
              <a:t>LangFlow, IBM watsonx.ai, and Granite Models</a:t>
            </a:r>
            <a:r>
              <a:rPr lang="en-IN" dirty="0"/>
              <a:t> to provide personalized, real-time interview guidance. The system addresses challenges in interview preparation, response structuring, and assessing skill gaps through an intelligent, modular architecture.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/>
              <a:t>At its core, the solution uses a </a:t>
            </a:r>
            <a:r>
              <a:rPr lang="en-IN" b="1" dirty="0"/>
              <a:t>Retrieval-Augmented Generation (RAG)</a:t>
            </a:r>
            <a:r>
              <a:rPr lang="en-IN" dirty="0"/>
              <a:t> pipeline to fetch accurate interview data from trusted sources such as recruitment portals, professional networks, and company interview databases. This data is embedded and stored in a vector database, enabling the system to retrieve and summarize role-specific questions, model answers, and evaluation rubrics using Granite models.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/>
              <a:t>The system consists of four key agents:</a:t>
            </a:r>
            <a:endParaRPr lang="en-IN" b="1" dirty="0"/>
          </a:p>
          <a:p>
            <a:r>
              <a:rPr lang="en-IN" b="1" dirty="0"/>
              <a:t>	Interview Data Retrieval Agent</a:t>
            </a:r>
            <a:r>
              <a:rPr lang="en-IN" dirty="0"/>
              <a:t> fetches and summarizes role-specific questions and evaluation rubrics using RAG.</a:t>
            </a:r>
          </a:p>
          <a:p>
            <a:r>
              <a:rPr lang="en-IN" b="1" dirty="0"/>
              <a:t>	Personalized Interview Planner Agent</a:t>
            </a:r>
            <a:r>
              <a:rPr lang="en-IN" dirty="0"/>
              <a:t> generates customized question sets and preparation plans based on experience</a:t>
            </a:r>
          </a:p>
          <a:p>
            <a:r>
              <a:rPr lang="en-IN" dirty="0"/>
              <a:t>		level, job role, technical domain, and target company culture.</a:t>
            </a:r>
          </a:p>
          <a:p>
            <a:r>
              <a:rPr lang="en-IN" b="1" dirty="0"/>
              <a:t>	Response Tracking &amp; Feedback Agent</a:t>
            </a:r>
            <a:r>
              <a:rPr lang="en-IN" dirty="0"/>
              <a:t> allows users to input answers via text or voice and delivers instant assessment 		on clarity, completeness, and confidence.</a:t>
            </a:r>
          </a:p>
          <a:p>
            <a:r>
              <a:rPr lang="en-IN" b="1" dirty="0"/>
              <a:t>	Preventive Skill Focus Agent</a:t>
            </a:r>
            <a:r>
              <a:rPr lang="en-IN" dirty="0"/>
              <a:t> provides strategic preparation advice and targeted learning tracks for identified skill gaps 		(e.g., communication-weak or technically-deficient profiles).</a:t>
            </a:r>
          </a:p>
          <a:p>
            <a:endParaRPr lang="en-IN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The solution includes a </a:t>
            </a:r>
            <a:r>
              <a:rPr lang="en-US" b="1" dirty="0"/>
              <a:t>user-friendly dashboard</a:t>
            </a:r>
            <a:r>
              <a:rPr lang="en-US" dirty="0"/>
              <a:t> (built with Streamlit or React) that visualizes daily and weekly nutrient intake, highlights deficiencies, and tracks progress toward health goals.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/>
              <a:t>LangFlow is used to orchestrate agent workflows, while watsonx.ai ensures scalable model deployment, embeddings, and AI governance. Granite models power reasoning, summarization, and personalization.</a:t>
            </a:r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/>
              <a:t>Overall, this solution delivers an </a:t>
            </a:r>
            <a:r>
              <a:rPr lang="en-IN" b="1" dirty="0"/>
              <a:t>end-to-end intelligent interview coach</a:t>
            </a:r>
            <a:r>
              <a:rPr lang="en-IN" dirty="0"/>
              <a:t> that promotes career readiness through personalized insights, real-time feedback, and targeted skill recommendations.</a:t>
            </a:r>
            <a:endParaRPr lang="en-US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576072" y="241972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Proposed Solution 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290294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Langflow</a:t>
            </a: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>
                <a:sym typeface="Times New Roman"/>
              </a:rPr>
              <a:t>component Used -</a:t>
            </a:r>
            <a:endParaRPr sz="2400" b="1" dirty="0">
              <a:sym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474822" y="863187"/>
            <a:ext cx="882396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endParaRPr lang="en-US" sz="1100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  <a:endParaRPr lang="en-IN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19FC5681-80C8-068A-DF42-6CDE75A541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822" y="1170417"/>
            <a:ext cx="10780460" cy="51552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1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Chat Input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800" b="1" dirty="0">
                <a:solidFill>
                  <a:srgbClr val="1F1F1F"/>
                </a:solidFill>
                <a:latin typeface="+mj-lt"/>
              </a:rPr>
              <a:t>	</a:t>
            </a:r>
            <a:r>
              <a:rPr kumimoji="0" lang="en-US" altLang="en-US" b="1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What it is:</a:t>
            </a:r>
            <a:r>
              <a:rPr kumimoji="0" lang="en-US" altLang="en-US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 The entry point of your workspace. It captures user interaction in real time, typically from a frontend chat interface 		or a user dashboard.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	</a:t>
            </a:r>
            <a:r>
              <a:rPr kumimoji="0" lang="en-US" altLang="en-US" b="1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Role in this flow</a:t>
            </a:r>
            <a:r>
              <a:rPr kumimoji="0" lang="en-US" altLang="en-US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: It takes the candidate’s typed or recorded text response and directly streams it into the main Large 		Language Model (LLM) component for processing.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2. IBM watsonx.ai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dirty="0">
                <a:solidFill>
                  <a:srgbClr val="1F1F1F"/>
                </a:solidFill>
                <a:latin typeface="+mj-lt"/>
              </a:rPr>
              <a:t>	</a:t>
            </a:r>
            <a:r>
              <a:rPr kumimoji="0" lang="en-US" altLang="en-US" b="1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What it is:</a:t>
            </a:r>
            <a:r>
              <a:rPr kumimoji="0" lang="en-US" altLang="en-US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 The core processing and inference node. This is a custom or integrated LangFlow component designed to 		communicate directly with IBM’s cloud infrastructure.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	</a:t>
            </a:r>
            <a:r>
              <a:rPr kumimoji="0" lang="en-US" altLang="en-US" b="1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Key Configurations visible:</a:t>
            </a:r>
          </a:p>
          <a:p>
            <a:pPr marL="457200" lvl="4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		</a:t>
            </a:r>
            <a:r>
              <a:rPr kumimoji="0" lang="en-US" altLang="en-US" b="1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System</a:t>
            </a:r>
            <a:r>
              <a:rPr kumimoji="0" lang="en-US" altLang="en-US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 </a:t>
            </a:r>
            <a:r>
              <a:rPr kumimoji="0" lang="en-US" altLang="en-US" b="1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Message</a:t>
            </a:r>
            <a:r>
              <a:rPr kumimoji="0" lang="en-US" altLang="en-US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: Stores the base context/rules governing how the AI should behave (e.g., instructing the agent 			to act strictly as an interview coach).</a:t>
            </a:r>
          </a:p>
          <a:p>
            <a:pPr marL="457200" lvl="4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rgbClr val="1F1F1F"/>
                </a:solidFill>
                <a:latin typeface="+mj-lt"/>
              </a:rPr>
              <a:t>		</a:t>
            </a:r>
            <a:r>
              <a:rPr kumimoji="0" lang="en-US" altLang="en-US" b="1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Model</a:t>
            </a:r>
            <a:r>
              <a:rPr kumimoji="0" lang="en-US" altLang="en-US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 </a:t>
            </a:r>
            <a:r>
              <a:rPr kumimoji="0" lang="en-US" altLang="en-US" b="1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Name</a:t>
            </a:r>
            <a:r>
              <a:rPr kumimoji="0" lang="en-US" altLang="en-US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: It is specifically configured to run ibm/granite-8b-code-instruct, optimized for following instructions 			and structural reasoning tasks.</a:t>
            </a:r>
          </a:p>
          <a:p>
            <a:pPr marL="457200" lvl="4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rgbClr val="1F1F1F"/>
                </a:solidFill>
                <a:latin typeface="+mj-lt"/>
              </a:rPr>
              <a:t>		</a:t>
            </a:r>
            <a:r>
              <a:rPr kumimoji="0" lang="en-US" altLang="en-US" b="1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Credentials</a:t>
            </a:r>
            <a:r>
              <a:rPr kumimoji="0" lang="en-US" altLang="en-US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: It handles the API Endpoint, Project ID, and API Key required to authenticate and securely process 			the text using IBM's cloud foundation models.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	</a:t>
            </a:r>
            <a:r>
              <a:rPr kumimoji="0" lang="en-US" altLang="en-US" b="1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Role</a:t>
            </a:r>
            <a:r>
              <a:rPr kumimoji="0" lang="en-US" altLang="en-US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 </a:t>
            </a:r>
            <a:r>
              <a:rPr kumimoji="0" lang="en-US" altLang="en-US" b="1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in</a:t>
            </a:r>
            <a:r>
              <a:rPr kumimoji="0" lang="en-US" altLang="en-US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 </a:t>
            </a:r>
            <a:r>
              <a:rPr kumimoji="0" lang="en-US" altLang="en-US" b="1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this</a:t>
            </a:r>
            <a:r>
              <a:rPr kumimoji="0" lang="en-US" altLang="en-US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 </a:t>
            </a:r>
            <a:r>
              <a:rPr kumimoji="0" lang="en-US" altLang="en-US" b="1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flow</a:t>
            </a:r>
            <a:r>
              <a:rPr kumimoji="0" lang="en-US" altLang="en-US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: It takes the text from the Chat Input, parses it through the lens of the System Message instructions, uses 		the Granite Model to think through a response, and outputs the resulting text.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3. Chat Output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	</a:t>
            </a:r>
            <a:r>
              <a:rPr kumimoji="0" lang="en-US" altLang="en-US" b="1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What it is</a:t>
            </a:r>
            <a:r>
              <a:rPr kumimoji="0" lang="en-US" altLang="en-US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: The final node or endpoint of the pipeline.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	</a:t>
            </a:r>
            <a:r>
              <a:rPr kumimoji="0" lang="en-US" altLang="en-US" b="1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Role in this flow</a:t>
            </a:r>
            <a:r>
              <a:rPr kumimoji="0" lang="en-US" altLang="en-US" u="none" strike="noStrike" cap="none" normalizeH="0" dirty="0">
                <a:ln>
                  <a:noFill/>
                </a:ln>
                <a:solidFill>
                  <a:srgbClr val="1F1F1F"/>
                </a:solidFill>
                <a:effectLst/>
                <a:latin typeface="+mj-lt"/>
              </a:rPr>
              <a:t>: It intercepts the generated Model Response string coming out of the watsonx.ai component and routes it 		back to the frontend user interface, instantly displaying the interview coach's critique, score, or follow-up question 		to the user.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10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28526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Langflow</a:t>
            </a: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>
                <a:sym typeface="Times New Roman"/>
              </a:rPr>
              <a:t>workflow -</a:t>
            </a:r>
            <a:endParaRPr sz="2400" b="1" dirty="0">
              <a:sym typeface="Times New Roman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E97669-0AF1-2881-DD5C-FFA28A2C66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0648" y="1130800"/>
            <a:ext cx="9550703" cy="5403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475488" y="283464"/>
            <a:ext cx="9317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Role of Agentic AI in the solution </a:t>
            </a:r>
            <a:endParaRPr lang="en-IN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621792" y="1167493"/>
            <a:ext cx="7406640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Role of Agentic AI in Interview Trainer Agent</a:t>
            </a:r>
          </a:p>
          <a:p>
            <a:endParaRPr lang="en-US" b="1" dirty="0"/>
          </a:p>
          <a:p>
            <a:r>
              <a:rPr lang="en-IN" b="1" dirty="0"/>
              <a:t>Agentic AI</a:t>
            </a:r>
            <a:r>
              <a:rPr lang="en-IN" dirty="0"/>
              <a:t> enables the Interview Trainer Agent to function as an intelligent, autonomous system rather than a simple chatbot. Using </a:t>
            </a:r>
            <a:r>
              <a:rPr lang="en-IN" b="1" dirty="0"/>
              <a:t>IBM watsonx.ai</a:t>
            </a:r>
            <a:r>
              <a:rPr lang="en-IN" dirty="0"/>
              <a:t> and </a:t>
            </a:r>
            <a:r>
              <a:rPr lang="en-IN" b="1" dirty="0"/>
              <a:t>IBM Granite models</a:t>
            </a:r>
            <a:r>
              <a:rPr lang="en-IN" dirty="0"/>
              <a:t>, it coordinates multiple specialized agents to deliver personalized interview guidance.</a:t>
            </a:r>
          </a:p>
          <a:p>
            <a:endParaRPr lang="en-IN" dirty="0"/>
          </a:p>
          <a:p>
            <a:r>
              <a:rPr lang="en-IN" dirty="0"/>
              <a:t>Each agent performs a specific role—such as retrieving role-specific interview data, generating customized preparation plans, tracking user responses, and analysing communication or technical skill gaps—while working collaboratively. This </a:t>
            </a:r>
            <a:r>
              <a:rPr lang="en-IN" b="1" dirty="0"/>
              <a:t>multi-agent approach</a:t>
            </a:r>
            <a:r>
              <a:rPr lang="en-IN" dirty="0"/>
              <a:t> ensures efficient task execution and accurate results.</a:t>
            </a:r>
          </a:p>
          <a:p>
            <a:endParaRPr lang="en-IN" dirty="0"/>
          </a:p>
          <a:p>
            <a:r>
              <a:rPr lang="en-IN" dirty="0"/>
              <a:t>Agentic AI also brings </a:t>
            </a:r>
            <a:r>
              <a:rPr lang="en-IN" b="1" dirty="0"/>
              <a:t>context awareness</a:t>
            </a:r>
            <a:r>
              <a:rPr lang="en-IN" dirty="0"/>
              <a:t>, understanding user details like experience level, job role, technical domain, and target company culture to generate tailored recommendations. It supports </a:t>
            </a:r>
            <a:r>
              <a:rPr lang="en-IN" b="1" dirty="0"/>
              <a:t>real-time adaptation</a:t>
            </a:r>
            <a:r>
              <a:rPr lang="en-IN" dirty="0"/>
              <a:t>, continuously updating suggestions based on user inputs like verbal or text-based mock answers. Additionally, agents communicate with each other, enabling better decision-making and improved outcomes.</a:t>
            </a:r>
          </a:p>
          <a:p>
            <a:endParaRPr lang="en-IN" dirty="0"/>
          </a:p>
          <a:p>
            <a:r>
              <a:rPr lang="en-IN" dirty="0"/>
              <a:t>Overall, Agentic AI makes the system proactive, personalized, and goal-driven, acting like a </a:t>
            </a:r>
            <a:r>
              <a:rPr lang="en-IN" b="1" dirty="0"/>
              <a:t>smart digital interview coach</a:t>
            </a:r>
            <a:r>
              <a:rPr lang="en-IN" dirty="0"/>
              <a:t> that helps users excel in competitive hiring processes.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233225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40" y="812877"/>
            <a:ext cx="10515600" cy="6447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b="1" u="sng" dirty="0"/>
              <a:t>Frontend</a:t>
            </a:r>
            <a:endParaRPr lang="en-IN" sz="1800" u="sng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b="1" dirty="0"/>
              <a:t>Next.js 16</a:t>
            </a:r>
            <a:r>
              <a:rPr lang="en-IN" sz="1800" dirty="0"/>
              <a:t> – React framework for building the frontend with server-side rendering.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b="1" dirty="0"/>
              <a:t>TypeScript</a:t>
            </a:r>
            <a:r>
              <a:rPr lang="en-IN" sz="1800" dirty="0"/>
              <a:t> – Strongly typed JavaScript for safer and scalable code.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b="1" dirty="0"/>
              <a:t>Tailwind CSS</a:t>
            </a:r>
            <a:r>
              <a:rPr lang="en-IN" sz="1800" dirty="0"/>
              <a:t> – Utility-first CSS framework for styling the UI.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b="1" dirty="0"/>
              <a:t>React</a:t>
            </a:r>
            <a:r>
              <a:rPr lang="en-IN" sz="1800" dirty="0"/>
              <a:t> – Component-based library for building the interactive chat interface.</a:t>
            </a:r>
            <a:endParaRPr lang="en-US" sz="1800" dirty="0"/>
          </a:p>
          <a:p>
            <a:r>
              <a:rPr lang="en-IN" sz="1800" b="1" u="sng" dirty="0"/>
              <a:t>AI </a:t>
            </a:r>
            <a:endParaRPr lang="en-IN" sz="1800" u="sng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b="1" dirty="0"/>
              <a:t>LangFlow</a:t>
            </a:r>
            <a:r>
              <a:rPr lang="en-IN" sz="1800" dirty="0"/>
              <a:t> – Visual tool for orchestrating the AI interview trainer workflow.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b="1" dirty="0"/>
              <a:t>IBM Watsonx.ai</a:t>
            </a:r>
            <a:r>
              <a:rPr lang="en-IN" sz="1800" dirty="0"/>
              <a:t> – Platform for model deployment, embeddings, and AI governance.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b="1" dirty="0"/>
              <a:t>IBM Granite (granite-4.0-8B-Instruct)</a:t>
            </a:r>
            <a:r>
              <a:rPr lang="en-IN" sz="1800" dirty="0"/>
              <a:t> – LLM powering question generation and personalization.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b="1" dirty="0"/>
              <a:t>RAG</a:t>
            </a:r>
            <a:r>
              <a:rPr lang="en-IN" sz="1800" dirty="0"/>
              <a:t> – Retrieves role-specific interview content before generating answers.</a:t>
            </a:r>
          </a:p>
          <a:p>
            <a:r>
              <a:rPr lang="en-IN" sz="1800" b="1" u="sng" dirty="0"/>
              <a:t>API</a:t>
            </a:r>
            <a:endParaRPr lang="en-IN" sz="1800" u="sng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b="1" dirty="0"/>
              <a:t>Next.js API Routes</a:t>
            </a:r>
            <a:r>
              <a:rPr lang="en-IN" sz="1800" dirty="0"/>
              <a:t> – Server-side route handling the LangFlow API communication.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b="1" dirty="0"/>
              <a:t>Environment Config (.env.local)</a:t>
            </a:r>
            <a:r>
              <a:rPr lang="en-IN" sz="1800" dirty="0"/>
              <a:t> – Securely manages API keys and endpoint configuration.</a:t>
            </a:r>
          </a:p>
          <a:p>
            <a:r>
              <a:rPr lang="en-IN" sz="1800" b="1" u="sng" dirty="0"/>
              <a:t>UI Components</a:t>
            </a:r>
            <a:endParaRPr lang="en-IN" sz="1800" u="sng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b="1" dirty="0"/>
              <a:t>shadcn/ui</a:t>
            </a:r>
            <a:r>
              <a:rPr lang="en-IN" sz="1800" dirty="0"/>
              <a:t> – Pre-built accessible component library used for UI elements.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750" b="1" dirty="0"/>
              <a:t>Custom Components</a:t>
            </a:r>
            <a:r>
              <a:rPr lang="en-IN" sz="1750" dirty="0"/>
              <a:t> – chat-interface.tsx, chat-message.tsx, profile-form.tsx for core chat features.</a:t>
            </a:r>
          </a:p>
          <a:p>
            <a:r>
              <a:rPr lang="en-IN" sz="1800" b="1" u="sng" dirty="0"/>
              <a:t>Dev Tools</a:t>
            </a:r>
            <a:endParaRPr lang="en-IN" sz="1800" u="sng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b="1" dirty="0"/>
              <a:t>Node.js 18+</a:t>
            </a:r>
            <a:r>
              <a:rPr lang="en-IN" sz="1800" dirty="0"/>
              <a:t> – JavaScript runtime environment for running the application.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b="1" dirty="0"/>
              <a:t>npm</a:t>
            </a:r>
            <a:r>
              <a:rPr lang="en-IN" sz="1800" dirty="0"/>
              <a:t> – Package manager for installing and managing dependencies..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b="1" dirty="0"/>
              <a:t>Turbopack</a:t>
            </a:r>
            <a:r>
              <a:rPr lang="en-IN" sz="1800" dirty="0"/>
              <a:t> – Fast Next.js bundler used during development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75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CEE1339-AB26-5BC0-6198-492F8644E2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1100116"/>
            <a:ext cx="11353800" cy="539275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62F2525-7D85-3315-EB63-0312DB2D05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365125"/>
            <a:ext cx="10515600" cy="539443"/>
          </a:xfrm>
        </p:spPr>
        <p:txBody>
          <a:bodyPr>
            <a:normAutofit fontScale="90000"/>
          </a:bodyPr>
          <a:lstStyle/>
          <a:p>
            <a:r>
              <a:rPr lang="en-US" u="sng" dirty="0"/>
              <a:t>Tokens</a:t>
            </a:r>
            <a:endParaRPr lang="en-IN" u="sng" dirty="0"/>
          </a:p>
        </p:txBody>
      </p:sp>
    </p:spTree>
    <p:extLst>
      <p:ext uri="{BB962C8B-B14F-4D97-AF65-F5344CB8AC3E}">
        <p14:creationId xmlns:p14="http://schemas.microsoft.com/office/powerpoint/2010/main" val="33113353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521601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Novelty and Uniqueness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521601" y="1079611"/>
            <a:ext cx="11301984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/>
              <a:t>The proposed Interview Trainer Agent stands out by combining </a:t>
            </a:r>
            <a:r>
              <a:rPr lang="en-IN" sz="1600" b="1" dirty="0"/>
              <a:t>Agentic AI, RAG, and personalization</a:t>
            </a:r>
            <a:r>
              <a:rPr lang="en-IN" sz="1600" dirty="0"/>
              <a:t> into a single intelligent system.</a:t>
            </a:r>
          </a:p>
          <a:p>
            <a:endParaRPr lang="en-IN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Profile-Driven Personalization</a:t>
            </a:r>
            <a:r>
              <a:rPr lang="en-IN" sz="1600" dirty="0"/>
              <a:t> – Tailors every question set based on the user's name, experience level, and target job role, making prep highly relevant and specific.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RAG-Powered Accuracy</a:t>
            </a:r>
            <a:r>
              <a:rPr lang="en-IN" sz="1600" dirty="0"/>
              <a:t> – Uses Retrieval-Augmented Generation to fetch real, role-specific interview content before generating answers, reducing generic or irrelevant responses.</a:t>
            </a:r>
            <a:endParaRPr lang="en-IN" sz="16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Technical + Behavioural Coverage</a:t>
            </a:r>
            <a:r>
              <a:rPr lang="en-IN" sz="1600" dirty="0"/>
              <a:t> – Goes beyond just technical questions by also covering soft skills and behavioural scenarios for a complete interview prep experience.</a:t>
            </a:r>
            <a:endParaRPr lang="en-IN" sz="16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Real-Time Conversational Interface</a:t>
            </a:r>
            <a:r>
              <a:rPr lang="en-IN" sz="1600" dirty="0"/>
              <a:t> – Delivers interview preparation through a live chat UI, making it feel like an actual interview rather than a static Q&amp;A list.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IBM Granite Integration</a:t>
            </a:r>
            <a:r>
              <a:rPr lang="en-IN" sz="1600" dirty="0"/>
              <a:t> – Leverages IBM's enterprise-grade Granite model for intelligent, context-aware question generation and personalized feedback.</a:t>
            </a:r>
            <a:endParaRPr lang="en-IN" sz="16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Langflow Workflow Orchestration</a:t>
            </a:r>
            <a:r>
              <a:rPr lang="en-IN" sz="1600" dirty="0"/>
              <a:t> – Uses a visual AI pipeline via Langflow, making the backend modular, maintainable, and easy to extend with new question sources.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Model Answers &amp; Improvement Tips</a:t>
            </a:r>
            <a:r>
              <a:rPr lang="en-IN" sz="1600" dirty="0"/>
              <a:t> – Not just asks questions, but also provides sample answers and actionable tips to actively improve user responses.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Scalable &amp; Enterprise-Ready</a:t>
            </a:r>
            <a:r>
              <a:rPr lang="en-IN" sz="1600" dirty="0"/>
              <a:t> – Built on IBM Watsonx.ai with secure API routes and environment-based config, ensuring reliability and production readiness. </a:t>
            </a:r>
          </a:p>
          <a:p>
            <a:endParaRPr lang="en-IN" sz="1600" dirty="0"/>
          </a:p>
          <a:p>
            <a:r>
              <a:rPr lang="en-IN" sz="1600" dirty="0"/>
              <a:t>This makes the solution a </a:t>
            </a:r>
            <a:r>
              <a:rPr lang="en-IN" sz="1600" b="1" dirty="0"/>
              <a:t>smart, adaptive, and proactive digital interview coach</a:t>
            </a:r>
            <a:r>
              <a:rPr lang="en-IN" sz="1600" dirty="0"/>
              <a:t>, not just a static question bank.</a:t>
            </a:r>
            <a:endParaRPr lang="en-US" sz="1200" dirty="0"/>
          </a:p>
          <a:p>
            <a:endParaRPr lang="en-IN" sz="1200" dirty="0"/>
          </a:p>
        </p:txBody>
      </p:sp>
    </p:spTree>
    <p:extLst>
      <p:ext uri="{BB962C8B-B14F-4D97-AF65-F5344CB8AC3E}">
        <p14:creationId xmlns:p14="http://schemas.microsoft.com/office/powerpoint/2010/main" val="917964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55016524-E738-3D8C-3BB2-B0BE7C66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D62F03A8-A8A8-CB93-006E-7173DC866F6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Git Hub Link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15507A2F-9304-7475-5C74-2BAA93879CFE}"/>
              </a:ext>
            </a:extLst>
          </p:cNvPr>
          <p:cNvSpPr/>
          <p:nvPr/>
        </p:nvSpPr>
        <p:spPr>
          <a:xfrm>
            <a:off x="1218724" y="1124746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Please create public GitHub repository (Enable Add README  button while creating repository) with format – </a:t>
            </a:r>
          </a:p>
          <a:p>
            <a:pPr lvl="1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/>
              </a:rPr>
              <a:t>Interview-Trainer-Agent</a:t>
            </a: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Make sure you have Uploaded following three files into your GitHub repository  </a:t>
            </a:r>
            <a:b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1) app.json file , 2) yourproblemstatement.pdf file  3) your projectpresntation.pptx file 4)any other files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15484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16509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Future Scope 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18724" y="869107"/>
            <a:ext cx="9214580" cy="5215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lnSpc>
                <a:spcPct val="162162"/>
              </a:lnSpc>
              <a:buClr>
                <a:srgbClr val="2B3541"/>
              </a:buClr>
              <a:buSzPts val="1850"/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AI-Powered Voice Interview Simulation –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system can be enhanced with a voice-enabled interface allowing users to practice speaking answers aloud, simulating a real interview environment. AI can evaluate tone, confidence, and clarity, providing detailed feedback to improve verbal communication skills. This will transform the chatbot from a text-based tool into a fully immersive mock interview experience.</a:t>
            </a:r>
          </a:p>
          <a:p>
            <a:pPr marL="342900" lvl="0" indent="-342900">
              <a:lnSpc>
                <a:spcPct val="162162"/>
              </a:lnSpc>
              <a:buClr>
                <a:srgbClr val="2B3541"/>
              </a:buClr>
              <a:buSzPts val="1850"/>
              <a:buFont typeface="+mj-lt"/>
              <a:buAutoNum type="arabicPeriod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Resume &amp; Job Description Parsing –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system can be extended to automatically parse the user's resume and target job description, extracting key skills and experience gaps. This will enable the Interview Trainer to generate hyper-personalized questions directly aligned with the candidate's profile and the specific role they are applying for. This feature will significantly reduce manual input and deliver a smarter, more targeted preparation experience.</a:t>
            </a:r>
            <a:endParaRPr sz="1800" b="0" i="0" u="none" strike="noStrike" cap="none" dirty="0">
              <a:solidFill>
                <a:srgbClr val="00000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1765</TotalTime>
  <Words>1875</Words>
  <Application>Microsoft Office PowerPoint</Application>
  <PresentationFormat>Widescreen</PresentationFormat>
  <Paragraphs>128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Quicksand SemiBold</vt:lpstr>
      <vt:lpstr>Times New Roman</vt:lpstr>
      <vt:lpstr>Wingdings</vt:lpstr>
      <vt:lpstr>Office Theme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Tokens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AMIT SWAIN</cp:lastModifiedBy>
  <cp:revision>26</cp:revision>
  <dcterms:created xsi:type="dcterms:W3CDTF">2025-07-08T05:06:56Z</dcterms:created>
  <dcterms:modified xsi:type="dcterms:W3CDTF">2026-06-08T13:50:35Z</dcterms:modified>
</cp:coreProperties>
</file>